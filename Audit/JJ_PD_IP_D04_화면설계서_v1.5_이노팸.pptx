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4C1_701054D9.xml" ContentType="application/vnd.ms-powerpoint.comments+xml"/>
  <Override PartName="/ppt/comments/modernComment_4C5_EB453751.xml" ContentType="application/vnd.ms-powerpoint.comments+xml"/>
  <Override PartName="/ppt/comments/modernComment_4D1_411F9791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27"/>
  </p:notesMasterIdLst>
  <p:sldIdLst>
    <p:sldId id="260" r:id="rId5"/>
    <p:sldId id="259" r:id="rId6"/>
    <p:sldId id="454" r:id="rId7"/>
    <p:sldId id="1237" r:id="rId8"/>
    <p:sldId id="1238" r:id="rId9"/>
    <p:sldId id="1210" r:id="rId10"/>
    <p:sldId id="1217" r:id="rId11"/>
    <p:sldId id="1218" r:id="rId12"/>
    <p:sldId id="1227" r:id="rId13"/>
    <p:sldId id="1228" r:id="rId14"/>
    <p:sldId id="1219" r:id="rId15"/>
    <p:sldId id="1223" r:id="rId16"/>
    <p:sldId id="1224" r:id="rId17"/>
    <p:sldId id="1220" r:id="rId18"/>
    <p:sldId id="1233" r:id="rId19"/>
    <p:sldId id="1229" r:id="rId20"/>
    <p:sldId id="1230" r:id="rId21"/>
    <p:sldId id="1221" r:id="rId22"/>
    <p:sldId id="1232" r:id="rId23"/>
    <p:sldId id="1231" r:id="rId24"/>
    <p:sldId id="1236" r:id="rId25"/>
    <p:sldId id="1235" r:id="rId2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E1FA884-8E89-4B50-0A31-98D818745CEB}" name="성 진주" initials="성진" userId="S::jjseong@innopam.kr::d7e0ffe6-bbdd-4186-b4d6-5aaf322cbbde" providerId="AD"/>
  <p188:author id="{24A4CD9F-9F57-6091-8F96-818965A92C36}" name="박 규영" initials="박규" userId="S::gypark@innopam.kr::efb02cb2-0426-4380-a260-21459eca729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B85FCC-32C2-F84D-76DA-B9F4E0E144A6}" v="19" dt="2026-08-06T00:59:55.357"/>
    <p1510:client id="{B6553F25-38A2-FE4D-9477-3D592034AA07}" v="3" dt="2026-08-06T02:03:16.0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70"/>
    <p:restoredTop sz="94744"/>
  </p:normalViewPr>
  <p:slideViewPr>
    <p:cSldViewPr snapToGrid="0">
      <p:cViewPr varScale="1">
        <p:scale>
          <a:sx n="119" d="100"/>
          <a:sy n="119" d="100"/>
        </p:scale>
        <p:origin x="18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 진주" userId="d7e0ffe6-bbdd-4186-b4d6-5aaf322cbbde" providerId="ADAL" clId="{1C4A00DC-92DB-5430-820B-E84A82F2C0C6}"/>
    <pc:docChg chg="undo custSel modSld">
      <pc:chgData name="성 진주" userId="d7e0ffe6-bbdd-4186-b4d6-5aaf322cbbde" providerId="ADAL" clId="{1C4A00DC-92DB-5430-820B-E84A82F2C0C6}" dt="2026-08-06T02:03:17.654" v="8" actId="108"/>
      <pc:docMkLst>
        <pc:docMk/>
      </pc:docMkLst>
      <pc:sldChg chg="modSp mod">
        <pc:chgData name="성 진주" userId="d7e0ffe6-bbdd-4186-b4d6-5aaf322cbbde" providerId="ADAL" clId="{1C4A00DC-92DB-5430-820B-E84A82F2C0C6}" dt="2026-08-06T02:03:17.654" v="8" actId="108"/>
        <pc:sldMkLst>
          <pc:docMk/>
          <pc:sldMk cId="3172282663" sldId="259"/>
        </pc:sldMkLst>
        <pc:spChg chg="mod">
          <ac:chgData name="성 진주" userId="d7e0ffe6-bbdd-4186-b4d6-5aaf322cbbde" providerId="ADAL" clId="{1C4A00DC-92DB-5430-820B-E84A82F2C0C6}" dt="2026-08-06T02:03:12.544" v="5" actId="27636"/>
          <ac:spMkLst>
            <pc:docMk/>
            <pc:sldMk cId="3172282663" sldId="259"/>
            <ac:spMk id="3" creationId="{87706AD0-98C8-2270-2FB4-C30D85E610EC}"/>
          </ac:spMkLst>
        </pc:spChg>
        <pc:graphicFrameChg chg="mod modGraphic">
          <ac:chgData name="성 진주" userId="d7e0ffe6-bbdd-4186-b4d6-5aaf322cbbde" providerId="ADAL" clId="{1C4A00DC-92DB-5430-820B-E84A82F2C0C6}" dt="2026-08-06T02:03:17.654" v="8" actId="108"/>
          <ac:graphicFrameMkLst>
            <pc:docMk/>
            <pc:sldMk cId="3172282663" sldId="259"/>
            <ac:graphicFrameMk id="16" creationId="{6D751BC5-FF4A-C61C-B25B-CDFC1A7E3805}"/>
          </ac:graphicFrameMkLst>
        </pc:graphicFrameChg>
      </pc:sldChg>
      <pc:sldChg chg="modSp mod">
        <pc:chgData name="성 진주" userId="d7e0ffe6-bbdd-4186-b4d6-5aaf322cbbde" providerId="ADAL" clId="{1C4A00DC-92DB-5430-820B-E84A82F2C0C6}" dt="2026-08-06T02:03:12.570" v="6" actId="27636"/>
        <pc:sldMkLst>
          <pc:docMk/>
          <pc:sldMk cId="2737004633" sldId="260"/>
        </pc:sldMkLst>
        <pc:spChg chg="mod">
          <ac:chgData name="성 진주" userId="d7e0ffe6-bbdd-4186-b4d6-5aaf322cbbde" providerId="ADAL" clId="{1C4A00DC-92DB-5430-820B-E84A82F2C0C6}" dt="2026-08-06T02:03:12.570" v="6" actId="27636"/>
          <ac:spMkLst>
            <pc:docMk/>
            <pc:sldMk cId="2737004633" sldId="260"/>
            <ac:spMk id="30" creationId="{42F7F6E5-4077-FE98-1C6D-DE370E265AA4}"/>
          </ac:spMkLst>
        </pc:spChg>
      </pc:sldChg>
    </pc:docChg>
  </pc:docChgLst>
  <pc:docChgLst>
    <pc:chgData name="박 규영" userId="S::gypark@innopam.kr::efb02cb2-0426-4380-a260-21459eca729e" providerId="AD" clId="Web-{50B85FCC-32C2-F84D-76DA-B9F4E0E144A6}"/>
    <pc:docChg chg="modSld">
      <pc:chgData name="박 규영" userId="S::gypark@innopam.kr::efb02cb2-0426-4380-a260-21459eca729e" providerId="AD" clId="Web-{50B85FCC-32C2-F84D-76DA-B9F4E0E144A6}" dt="2026-08-06T00:59:35.919" v="7"/>
      <pc:docMkLst>
        <pc:docMk/>
      </pc:docMkLst>
      <pc:sldChg chg="modSp">
        <pc:chgData name="박 규영" userId="S::gypark@innopam.kr::efb02cb2-0426-4380-a260-21459eca729e" providerId="AD" clId="Web-{50B85FCC-32C2-F84D-76DA-B9F4E0E144A6}" dt="2026-08-06T00:59:31.965" v="3"/>
        <pc:sldMkLst>
          <pc:docMk/>
          <pc:sldMk cId="751828424" sldId="1235"/>
        </pc:sldMkLst>
        <pc:graphicFrameChg chg="mod modGraphic">
          <ac:chgData name="박 규영" userId="S::gypark@innopam.kr::efb02cb2-0426-4380-a260-21459eca729e" providerId="AD" clId="Web-{50B85FCC-32C2-F84D-76DA-B9F4E0E144A6}" dt="2026-08-06T00:59:31.965" v="3"/>
          <ac:graphicFrameMkLst>
            <pc:docMk/>
            <pc:sldMk cId="751828424" sldId="1235"/>
            <ac:graphicFrameMk id="3" creationId="{4577D28B-51B5-B006-F362-86AAB26E990B}"/>
          </ac:graphicFrameMkLst>
        </pc:graphicFrameChg>
      </pc:sldChg>
      <pc:sldChg chg="modSp">
        <pc:chgData name="박 규영" userId="S::gypark@innopam.kr::efb02cb2-0426-4380-a260-21459eca729e" providerId="AD" clId="Web-{50B85FCC-32C2-F84D-76DA-B9F4E0E144A6}" dt="2026-08-06T00:59:35.919" v="7"/>
        <pc:sldMkLst>
          <pc:docMk/>
          <pc:sldMk cId="4070484881" sldId="1237"/>
        </pc:sldMkLst>
        <pc:graphicFrameChg chg="mod modGraphic">
          <ac:chgData name="박 규영" userId="S::gypark@innopam.kr::efb02cb2-0426-4380-a260-21459eca729e" providerId="AD" clId="Web-{50B85FCC-32C2-F84D-76DA-B9F4E0E144A6}" dt="2026-08-06T00:59:35.919" v="7"/>
          <ac:graphicFrameMkLst>
            <pc:docMk/>
            <pc:sldMk cId="4070484881" sldId="1237"/>
            <ac:graphicFrameMk id="3" creationId="{27F0F3AA-FD11-0917-A60D-5326ADAE7152}"/>
          </ac:graphicFrameMkLst>
        </pc:graphicFrameChg>
      </pc:sldChg>
    </pc:docChg>
  </pc:docChgLst>
</pc:chgInfo>
</file>

<file path=ppt/comments/modernComment_4C1_701054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58E3682-D03D-AB4D-B46B-21EA14AEC148}" authorId="{24A4CD9F-9F57-6091-8F96-818965A92C36}" created="2026-07-27T07:56:41.0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80118489" sldId="1217"/>
      <ac:graphicFrameMk id="28" creationId="{5A053F02-A22E-4BF8-595F-73DE8A5B2398}"/>
    </ac:deMkLst>
    <p188:txBody>
      <a:bodyPr/>
      <a:lstStyle/>
      <a:p>
        <a:r>
          <a:rPr lang="ko-Kore-KR" altLang="en-US"/>
          <a:t>* 단속 집중 지역 - 불법주정차 단속이 반복·집중 발생 하는 곳 (원천-불법주정차 단속 데이터)
*수요 부족 지역 - 주차 수요 대비 공급(주차면)이 부족한 지역(원천- 공영주차장 현황)</a:t>
        </a:r>
      </a:p>
    </p188:txBody>
  </p188:cm>
</p188:cmLst>
</file>

<file path=ppt/comments/modernComment_4C5_EB4537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815BFAB-4985-B840-8D7D-98490C32BC3A}" authorId="{EE1FA884-8E89-4B50-0A31-98D818745CEB}" created="2026-07-21T08:46:41.095">
    <pc:sldMkLst xmlns:pc="http://schemas.microsoft.com/office/powerpoint/2013/main/command">
      <pc:docMk/>
      <pc:sldMk cId="3947181905" sldId="1221"/>
    </pc:sldMkLst>
    <p188:replyLst>
      <p188:reply id="{A38C3FFD-6FC4-4BFA-BA17-420A53D9FC0B}" authorId="{24A4CD9F-9F57-6091-8F96-818965A92C36}" created="2026-07-21T09:50:24.471">
        <p188:txBody>
          <a:bodyPr/>
          <a:lstStyle/>
          <a:p>
            <a:r>
              <a:rPr lang="ko-KR" altLang="en-US"/>
              <a:t>메뉴구조도에 UI-PAR-005-02,02,03 넣어야해요</a:t>
            </a:r>
          </a:p>
        </p188:txBody>
      </p188:reply>
      <p188:reply id="{F30BAE01-F202-48E2-BC80-8159A5CA369D}" authorId="{24A4CD9F-9F57-6091-8F96-818965A92C36}" created="2026-07-21T09:50:57.582">
        <p188:txBody>
          <a:bodyPr/>
          <a:lstStyle/>
          <a:p>
            <a:r>
              <a:rPr lang="ko-KR" altLang="en-US"/>
              <a:t>뎁스는 없고 화면설계 매핑은 해야해요</a:t>
            </a:r>
          </a:p>
        </p188:txBody>
      </p188:reply>
    </p188:replyLst>
    <p188:txBody>
      <a:bodyPr/>
      <a:lstStyle/>
      <a:p>
        <a:r>
          <a:rPr lang="ko-KR" altLang="en-US"/>
          <a:t>메뉴 구조도에서는
AI 어시스턴트 아래로 들어가는 뎁스가 없어서
AI 어시스턴트는 UI-PAR-005로 표기됩니다!
</a:t>
        </a:r>
      </a:p>
    </p188:txBody>
  </p188:cm>
</p188:cmLst>
</file>

<file path=ppt/comments/modernComment_4D1_411F97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09C4866-60AC-4099-AA62-D1F715BDD6C1}" authorId="{24A4CD9F-9F57-6091-8F96-818965A92C36}" created="2026-07-21T11:54:33.417">
    <pc:sldMkLst xmlns:pc="http://schemas.microsoft.com/office/powerpoint/2013/main/command">
      <pc:docMk/>
      <pc:sldMk cId="1092589457" sldId="1233"/>
    </pc:sldMkLst>
    <p188:replyLst>
      <p188:reply id="{F9784BC6-4817-DB4A-B742-A778AF05D9B9}" authorId="{EE1FA884-8E89-4B50-0A31-98D818745CEB}" created="2026-07-22T00:16:43.679">
        <p188:txBody>
          <a:bodyPr/>
          <a:lstStyle/>
          <a:p>
            <a:r>
              <a:rPr lang="ko-KR" altLang="en-US"/>
              <a:t>1. 편집버튼 삭제가 맞습니다! 삭제하겠습니다.
2.○ 분석 리포트는 담당부서와 협의해 자동 생성할 수 있는 리포트 기능을 포함해야 함(003-11)부분 때문이시면 자동생성에 생성자=사용자여서 이걸로 진행하려고 하긴 했습니다!
생성자와 사용자를 구분할까요?</a:t>
            </a:r>
          </a:p>
        </p188:txBody>
      </p188:reply>
    </p188:replyLst>
    <p188:txBody>
      <a:bodyPr/>
      <a:lstStyle/>
      <a:p>
        <a:r>
          <a:rPr lang="ko-KR" altLang="en-US"/>
          <a:t>진주님 편집버튼 빠져야 하는거 아닌가요? 그리고 접속한 관리자 자신만 자동생성 설정 하는걸까요? 사용자 지정하여 넣는거 없어도 될까요? 오늘 감리가 사용자설정은 없냐고 물어봤어요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83C7E5-8571-4B66-A514-7A006FA8C26C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6C7AF-FAEA-412C-A8D4-CE10200B51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31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E096-6858-A785-4549-1C3FF76BC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C1EE4B-9689-C655-9F56-091014243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104BD-1F70-3D7B-6B37-D9F976A7C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1E8960-34AE-0A57-3B6B-8ED7CBC7697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1594729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042343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D41E-9BE9-6D7F-A3C0-CDCE9257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F155E6-6013-EB71-3BD4-EB5C80FC9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0C09E6-BD30-1CF0-D55C-1B959E0D5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CC076-E766-07F1-A30E-E867ACC5640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7520480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E950-10B2-4F78-8B61-8180857F2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BF2B78-8F9A-BBE0-B8E0-91E3F4AB1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7D5F3-E6BB-5F9F-758E-400D3016E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F3B46D-2B1E-7CC3-7242-979522FC0E9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0184603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71B3E-38CB-A381-EE40-75C220F6C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886E12-38C2-FFA5-CA93-8D56E177C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20019-9F2E-DBC0-641F-B78694D9D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0DB9C7-52A6-64A2-5BE1-654F718215A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577003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9550C-FBEB-97A6-4DD3-C7BF4069D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AFF643-89AC-0426-C97A-E4064848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02C3C7-408A-568E-B139-FA3BA5339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9A38F3-1A3B-FC8B-964B-9B9E1B02F1BB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8437590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0968-9D66-DD54-44FE-43A24908C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89753B-9EEC-7F5C-43BB-BA810329F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CAB4BD-E8A4-AAA6-8B17-D6E297EED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F8A22-350E-AF2E-384E-389F5D060C4C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4147676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4876-4728-5E2C-61D0-0923919D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BCA35F-D5C6-048F-05FB-7FF4D3FD7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3ADE0A-43D6-5311-7DE0-6251068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03DE7-FC0A-BCF5-52E1-56B7637F2B31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108558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A8E77-EC7B-3922-6CD7-AA5EB986F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4A2F4A-CDD5-2775-B442-6AF4129E8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53345-972A-82A8-D4DA-1E946E3D5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F6495-942E-4D24-CD24-61B761D3C6C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4052360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D4626-0DB6-3BF6-4455-10109ACC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7FB46B-65A0-898B-8862-1335919C6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1FDC7-3ABF-E9D4-5BE5-9C2D0AC07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80C37-52EC-EC8B-516C-494C2D273C1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101713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11AD-F826-8BA4-C25C-B6DAD7AC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99C689-DB6A-95AD-2E9F-D5B2839A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E6E4C9-8160-2EFC-EA04-B034FE0E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DE6F2-1553-74D9-753D-640D635AC6AF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2609815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EA82-8957-8417-EE02-6C2BD090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3D4734-7C1C-4B5F-6A47-1F30E1F5D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37C9B1-E813-1E4B-9ADE-CF7234F34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39DF8-DC80-D89F-F522-C113682B653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988606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DEBF-889D-060C-753B-B0037451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EEA6EF-5CF5-6455-AC5A-65B5F4BB7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E7E117-25A1-94BB-56ED-2CFB607FA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0F619-7478-7077-BE09-88CCD1F4B8A2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7559776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3D20-EA56-B05A-68B3-21292CDD3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1C7FD4-870C-9F52-6887-342538BA5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8DA892-A486-64BF-1C92-2739B4854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EC258-BF5C-BE6C-1F7A-5EFAD14C9E95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355075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E61CC-0BDE-B009-6A0D-3D87F2F7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C0055C-AE67-BB0D-5CDB-4413554B2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9EF22-DEB6-5350-CB79-1F77E26DB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4CAFD-79B0-1FF4-9A64-2B468EED518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9493758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EDB14-E466-4B5D-4F77-1617674FE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DA328C-74D5-49AA-75B6-FAFE055EA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07D01D-3578-0D87-4C0A-7C77E8ACB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EED1D-10D1-A786-3C78-1BDB979AC94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22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60089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90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47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669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343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14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865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09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47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92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68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921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414CC99F-84DF-182A-1EB3-FA815B171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711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9C0C932-7ADF-A3D1-53DC-3D9F626B1FAC}"/>
              </a:ext>
            </a:extLst>
          </p:cNvPr>
          <p:cNvSpPr/>
          <p:nvPr userDrawn="1"/>
        </p:nvSpPr>
        <p:spPr>
          <a:xfrm>
            <a:off x="6457951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B1EAB9-8DAD-1361-A897-3EFA4EB98E48}"/>
              </a:ext>
            </a:extLst>
          </p:cNvPr>
          <p:cNvSpPr/>
          <p:nvPr userDrawn="1"/>
        </p:nvSpPr>
        <p:spPr>
          <a:xfrm>
            <a:off x="7953376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16417D-CD55-77DE-800A-B9969CC960A6}"/>
              </a:ext>
            </a:extLst>
          </p:cNvPr>
          <p:cNvSpPr/>
          <p:nvPr userDrawn="1"/>
        </p:nvSpPr>
        <p:spPr>
          <a:xfrm>
            <a:off x="5838826" y="3233734"/>
            <a:ext cx="3181350" cy="4048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FBAEE8D-45E1-61A8-EF2B-3923810CABDC}"/>
              </a:ext>
            </a:extLst>
          </p:cNvPr>
          <p:cNvSpPr/>
          <p:nvPr userDrawn="1"/>
        </p:nvSpPr>
        <p:spPr>
          <a:xfrm>
            <a:off x="5838826" y="3843334"/>
            <a:ext cx="3181350" cy="2905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84A1EC25-324B-C501-DE3B-639FBC4B3F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7951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JJ_XX_XX00</a:t>
            </a:r>
            <a:endParaRPr lang="ko-KR" altLang="en-US"/>
          </a:p>
        </p:txBody>
      </p:sp>
      <p:sp>
        <p:nvSpPr>
          <p:cNvPr id="10" name="텍스트 개체 틀 8">
            <a:extLst>
              <a:ext uri="{FF2B5EF4-FFF2-40B4-BE49-F238E27FC236}">
                <a16:creationId xmlns:a16="http://schemas.microsoft.com/office/drawing/2014/main" id="{2F7A1EE0-4BAB-A7F0-D86B-C15141E6FC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58139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V0.0</a:t>
            </a:r>
            <a:endParaRPr lang="ko-KR" altLang="en-US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2143C2E0-8296-5226-3870-422A62D48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649" y="3228392"/>
            <a:ext cx="2202527" cy="415498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30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문서제목작성</a:t>
            </a:r>
          </a:p>
        </p:txBody>
      </p:sp>
      <p:sp>
        <p:nvSpPr>
          <p:cNvPr id="14" name="텍스트 개체 틀 8">
            <a:extLst>
              <a:ext uri="{FF2B5EF4-FFF2-40B4-BE49-F238E27FC236}">
                <a16:creationId xmlns:a16="http://schemas.microsoft.com/office/drawing/2014/main" id="{F6D9F220-20E9-4A8E-8302-C8A79998A1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73618" y="3845940"/>
            <a:ext cx="2646558" cy="221599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업무 담당</a:t>
            </a:r>
            <a:r>
              <a:rPr lang="en-US" altLang="ko-KR"/>
              <a:t>(</a:t>
            </a:r>
            <a:r>
              <a:rPr lang="ko-KR" altLang="en-US"/>
              <a:t>사업관리</a:t>
            </a:r>
            <a:r>
              <a:rPr lang="en-US" altLang="ko-KR"/>
              <a:t>/</a:t>
            </a:r>
            <a:r>
              <a:rPr lang="ko-KR" altLang="en-US"/>
              <a:t>해당업무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54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FD6326C6-65E5-51F2-BBFF-19575D776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F53BC83-CDFE-A671-F048-DAD45C749CD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015BAF9C-112C-3DDB-2ACB-A3CCE6772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0178"/>
            <a:ext cx="1802524" cy="379152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DA7796-CF21-EC37-423E-FA222BA2B63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13834" y="6513719"/>
            <a:ext cx="1639614" cy="29577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1F2E08FC-A60A-CDD1-30EC-4740FFE5C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18AD4D-D085-FFB9-550F-FDB7E7AD157B}"/>
              </a:ext>
            </a:extLst>
          </p:cNvPr>
          <p:cNvSpPr txBox="1"/>
          <p:nvPr userDrawn="1"/>
        </p:nvSpPr>
        <p:spPr>
          <a:xfrm>
            <a:off x="5558828" y="111255"/>
            <a:ext cx="4178169" cy="276999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/>
            <a:r>
              <a:rPr lang="en-US" altLang="ko-KR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'25</a:t>
            </a:r>
            <a:r>
              <a:rPr lang="ko-KR" altLang="en-US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년 제주스마트도시 데이터허브 시범솔루션 발굴사업</a:t>
            </a:r>
          </a:p>
        </p:txBody>
      </p:sp>
    </p:spTree>
    <p:extLst>
      <p:ext uri="{BB962C8B-B14F-4D97-AF65-F5344CB8AC3E}">
        <p14:creationId xmlns:p14="http://schemas.microsoft.com/office/powerpoint/2010/main" val="2812091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microsoft.com/office/2018/10/relationships/comments" Target="../comments/modernComment_4C1_701054D9.xm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microsoft.com/office/2018/10/relationships/comments" Target="../comments/modernComment_4D1_411F9791.xml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microsoft.com/office/2018/10/relationships/comments" Target="../comments/modernComment_4C5_EB453751.xml"/><Relationship Id="rId4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F54B0D53-9670-757E-BD40-2B584E781E6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5026" y="3228975"/>
            <a:ext cx="1835150" cy="414338"/>
          </a:xfrm>
        </p:spPr>
        <p:txBody>
          <a:bodyPr>
            <a:normAutofit fontScale="85000" lnSpcReduction="10000"/>
          </a:bodyPr>
          <a:lstStyle/>
          <a:p>
            <a:pPr marL="0" indent="0" algn="r">
              <a:buNone/>
            </a:pPr>
            <a:r>
              <a:rPr lang="ko-KR" altLang="en-US" sz="3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화면설계서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42F7F6E5-4077-FE98-1C6D-DE370E265AA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746876" y="3846513"/>
            <a:ext cx="2273300" cy="220662"/>
          </a:xfrm>
        </p:spPr>
        <p:txBody>
          <a:bodyPr>
            <a:normAutofit fontScale="77500" lnSpcReduction="20000"/>
          </a:bodyPr>
          <a:lstStyle/>
          <a:p>
            <a:pPr marL="0" indent="0" algn="r">
              <a:buNone/>
            </a:pPr>
            <a:r>
              <a:rPr lang="ko-KR" altLang="en-US" sz="16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주차민원분석솔루션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411E66B-3B9B-BF2A-804A-958C6C937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0" y="5430813"/>
            <a:ext cx="1943100" cy="35052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EC0259F-241C-4866-8CC8-E388E6DC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2" y="1461689"/>
            <a:ext cx="2014937" cy="277024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232E0A6-91FC-E06F-6C03-CD8EAE1391D7}"/>
              </a:ext>
            </a:extLst>
          </p:cNvPr>
          <p:cNvCxnSpPr/>
          <p:nvPr/>
        </p:nvCxnSpPr>
        <p:spPr>
          <a:xfrm>
            <a:off x="2305878" y="3737113"/>
            <a:ext cx="67142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텍스트 개체 틀 29">
            <a:extLst>
              <a:ext uri="{FF2B5EF4-FFF2-40B4-BE49-F238E27FC236}">
                <a16:creationId xmlns:a16="http://schemas.microsoft.com/office/drawing/2014/main" id="{153DBE98-31E0-BA40-AA7B-44EEA9F1BA50}"/>
              </a:ext>
            </a:extLst>
          </p:cNvPr>
          <p:cNvSpPr txBox="1">
            <a:spLocks/>
          </p:cNvSpPr>
          <p:nvPr/>
        </p:nvSpPr>
        <p:spPr>
          <a:xfrm>
            <a:off x="4006967" y="2802126"/>
            <a:ext cx="5013209" cy="316113"/>
          </a:xfrm>
          <a:prstGeom prst="rect">
            <a:avLst/>
          </a:prstGeom>
        </p:spPr>
        <p:txBody>
          <a:bodyPr vert="horz" wrap="none" lIns="90000" tIns="46800" rIns="90000" bIns="46800" rtlCol="0" anchor="ctr" anchorCtr="0">
            <a:spAutoFit/>
          </a:bodyPr>
          <a:lstStyle>
            <a:lvl1pPr mar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 latinLnBrk="0"/>
            <a:r>
              <a:rPr lang="en-US" altLang="ko-KR"/>
              <a:t>'25</a:t>
            </a:r>
            <a:r>
              <a:rPr lang="ko-KR" altLang="ko-KR"/>
              <a:t>년 제주스마트도시 데이터허브 시범솔루션 발굴사업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2CB6C78-ADAF-ED84-DD62-0A1A7792A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732074"/>
              </p:ext>
            </p:extLst>
          </p:nvPr>
        </p:nvGraphicFramePr>
        <p:xfrm>
          <a:off x="6377161" y="1172142"/>
          <a:ext cx="299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6944">
                  <a:extLst>
                    <a:ext uri="{9D8B030D-6E8A-4147-A177-3AD203B41FA5}">
                      <a16:colId xmlns:a16="http://schemas.microsoft.com/office/drawing/2014/main" val="3147915760"/>
                    </a:ext>
                  </a:extLst>
                </a:gridCol>
                <a:gridCol w="1496944">
                  <a:extLst>
                    <a:ext uri="{9D8B030D-6E8A-4147-A177-3AD203B41FA5}">
                      <a16:colId xmlns:a16="http://schemas.microsoft.com/office/drawing/2014/main" val="41677399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문서관리번호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943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de-DE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JJ_PD_IP_D04</a:t>
                      </a:r>
                      <a:endParaRPr kumimoji="0" lang="ko-KR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297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7004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016CD56-F824-6F3F-094A-F9D8FDB0A7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22263" y="439947"/>
            <a:ext cx="540009" cy="305053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altLang="ko-KR" sz="18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01</a:t>
            </a:r>
            <a:endParaRPr lang="ko-KR" altLang="en-US" sz="1200" b="1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706AD0-98C8-2270-2FB4-C30D85E610E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62273" y="377688"/>
            <a:ext cx="2273058" cy="429570"/>
          </a:xfrm>
          <a:prstGeom prst="rect">
            <a:avLst/>
          </a:prstGeo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ko-KR" altLang="en-US" sz="24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표지 및 개정이력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755017E-1D66-E15A-C751-485F1EB2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fld id="{D59C0332-BE4C-4097-B228-FB0197D275DE}" type="slidenum">
              <a:rPr lang="ko-KR" altLang="en-US" smtClean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pPr algn="ctr"/>
              <a:t>2</a:t>
            </a:fld>
            <a:r>
              <a:rPr lang="ko-KR" altLang="en-US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</a:t>
            </a:r>
            <a:endParaRPr lang="ko-KR" altLang="en-US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D751BC5-FF4A-C61C-B25B-CDFC1A7E3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387169"/>
              </p:ext>
            </p:extLst>
          </p:nvPr>
        </p:nvGraphicFramePr>
        <p:xfrm>
          <a:off x="288889" y="1425354"/>
          <a:ext cx="9344063" cy="4686166"/>
        </p:xfrm>
        <a:graphic>
          <a:graphicData uri="http://schemas.openxmlformats.org/drawingml/2006/table">
            <a:tbl>
              <a:tblPr/>
              <a:tblGrid>
                <a:gridCol w="1234402">
                  <a:extLst>
                    <a:ext uri="{9D8B030D-6E8A-4147-A177-3AD203B41FA5}">
                      <a16:colId xmlns:a16="http://schemas.microsoft.com/office/drawing/2014/main" val="398969052"/>
                    </a:ext>
                  </a:extLst>
                </a:gridCol>
                <a:gridCol w="767098">
                  <a:extLst>
                    <a:ext uri="{9D8B030D-6E8A-4147-A177-3AD203B41FA5}">
                      <a16:colId xmlns:a16="http://schemas.microsoft.com/office/drawing/2014/main" val="4028861819"/>
                    </a:ext>
                  </a:extLst>
                </a:gridCol>
                <a:gridCol w="5306753">
                  <a:extLst>
                    <a:ext uri="{9D8B030D-6E8A-4147-A177-3AD203B41FA5}">
                      <a16:colId xmlns:a16="http://schemas.microsoft.com/office/drawing/2014/main" val="572200845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4148513408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1540799518"/>
                    </a:ext>
                  </a:extLst>
                </a:gridCol>
              </a:tblGrid>
              <a:tr h="333376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개정일자</a:t>
                      </a:r>
                    </a:p>
                  </a:txBody>
                  <a:tcPr marL="80547" marR="80547" marT="40274" marB="402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개정내용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작성자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검토자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93855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2026.06.01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V0.1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최초작성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05782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2026.07.10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130199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권한 별 메뉴 및 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620747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2026.07.22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31624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2026.07.23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 panose="00000600000000000000" pitchFamily="2" charset="-127"/>
                          <a:ea typeface="함초롬바탕" panose="02030604000101010101" pitchFamily="18" charset="-127"/>
                        </a:rPr>
                        <a:t>UI-PAR-002, UI-PAR-004-01/02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 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5644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2026.08.06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UI-PAR-006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 설정 메뉴 수정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588661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2026.10.2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7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V1.5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화면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현행화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,</a:t>
                      </a: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기능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설명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갱신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901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8937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69187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73542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93566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607908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924313"/>
                  </a:ext>
                </a:extLst>
              </a:tr>
            </a:tbl>
          </a:graphicData>
        </a:graphic>
      </p:graphicFrame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2641F0E-E887-BE1F-21A2-702035D56FBD}"/>
              </a:ext>
            </a:extLst>
          </p:cNvPr>
          <p:cNvCxnSpPr>
            <a:cxnSpLocks/>
          </p:cNvCxnSpPr>
          <p:nvPr/>
        </p:nvCxnSpPr>
        <p:spPr>
          <a:xfrm>
            <a:off x="766571" y="442464"/>
            <a:ext cx="0" cy="300019"/>
          </a:xfrm>
          <a:prstGeom prst="line">
            <a:avLst/>
          </a:prstGeom>
          <a:ln w="31750">
            <a:solidFill>
              <a:srgbClr val="3336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28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586" name="Rectangle 2">
            <a:extLst>
              <a:ext uri="{FF2B5EF4-FFF2-40B4-BE49-F238E27FC236}">
                <a16:creationId xmlns:a16="http://schemas.microsoft.com/office/drawing/2014/main" id="{D0FBAE0F-5400-4E24-8423-28C030851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7388" y="2963010"/>
            <a:ext cx="6287966" cy="58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ko-KR" altLang="en-US" sz="2769">
                <a:latin typeface="KoPubWorld바탕체 Bold" panose="00000800000000000000" pitchFamily="2" charset="-127"/>
                <a:ea typeface="KoPubWorld돋움체 Medium" panose="00000600000000000000"/>
              </a:rPr>
              <a:t>주차민원분석솔루션 화면 설계</a:t>
            </a:r>
          </a:p>
        </p:txBody>
      </p:sp>
      <p:sp>
        <p:nvSpPr>
          <p:cNvPr id="451587" name="Line 3">
            <a:extLst>
              <a:ext uri="{FF2B5EF4-FFF2-40B4-BE49-F238E27FC236}">
                <a16:creationId xmlns:a16="http://schemas.microsoft.com/office/drawing/2014/main" id="{FAF7F97D-D5E3-4F0C-AA75-011243D64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8257" y="3547697"/>
            <a:ext cx="636709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sz="1662">
              <a:latin typeface="KoPubWorld돋움체 Medium" panose="00000600000000000000" pitchFamily="2" charset="-127"/>
              <a:ea typeface="KoPubWorld돋움체 Medium" panose="0000060000000000000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14CA1-7523-64A1-C636-695EDA998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88B8-AEC6-496A-CAA3-AFCFC4A3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3AD1414-0E57-BDEC-72E5-43010577B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198" y="829315"/>
            <a:ext cx="7718079" cy="5516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0A06CA3-A6C2-E218-C4C2-CBAADFB03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4A6052-55CD-455C-AA04-DD9275A6BCB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7F0F3AA-FD11-0917-A60D-5326ADAE71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04804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UI-PAR-000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로그인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/login (데이터허브 통합 인증 연동)</a:t>
                      </a:r>
                      <a:endParaRPr lang="ko-KR" altLang="en-US" sz="800" b="1" kern="1200" cap="none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8946329-9F0C-F744-5F98-A797CAAE4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98906"/>
              </p:ext>
            </p:extLst>
          </p:nvPr>
        </p:nvGraphicFramePr>
        <p:xfrm>
          <a:off x="7988589" y="770244"/>
          <a:ext cx="1770265" cy="38983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솔루션 접속 로그인 화면 — 제주 데이터허브(D-Hub) 통합 인증 연동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통합 인증으로 로그인 버튼 — 클릭 시 D-Hub 통합 인증(SSO) 로그인 창으로 이동, 인증 성공 시 대시보드 진입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안내 문구 — 제주 데이터허브(D-Hub) 통합 인증 로그인 창으로 이동함을 안내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2150EAD-FAA5-0964-E814-3A0216B8CEC6}"/>
              </a:ext>
            </a:extLst>
          </p:cNvPr>
          <p:cNvSpPr/>
          <p:nvPr/>
        </p:nvSpPr>
        <p:spPr>
          <a:xfrm>
            <a:off x="4785504" y="27194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8FD62E5-7983-DB35-8F25-3117B3B2B6CA}"/>
              </a:ext>
            </a:extLst>
          </p:cNvPr>
          <p:cNvSpPr/>
          <p:nvPr/>
        </p:nvSpPr>
        <p:spPr>
          <a:xfrm>
            <a:off x="4953000" y="325650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70484881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BFA44-04B6-6705-D70F-E146C5E6D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CE62248-BF7A-A977-95E5-14202F28F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9BBCF18-D720-F044-A1D9-2F571564152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6969ED-A46C-6989-E043-D6079E45A8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83501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DF1DD22F-BC8F-D684-9480-8D77ED3C1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6174" y="791264"/>
            <a:ext cx="7772400" cy="5143499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5A053F02-A22E-4BF8-595F-73DE8A5B23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642879"/>
              </p:ext>
            </p:extLst>
          </p:nvPr>
        </p:nvGraphicFramePr>
        <p:xfrm>
          <a:off x="7988589" y="770244"/>
          <a:ext cx="1770266" cy="59230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지도 기반 민원 현황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메뉴명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최종업데이트 날짜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 표시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오늘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/주간/월간 탭 전환. 상세 필터 버튼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기간 선택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ore-KR" altLang="ko-Kore-KR" sz="800"/>
                        <a:t>총 민원 건수 / 민원 감</a:t>
                      </a:r>
                      <a:r>
                        <a:rPr lang="ko-Kore-KR" altLang="en-US" sz="800"/>
                        <a:t>정</a:t>
                      </a:r>
                      <a:r>
                        <a:rPr lang="ko-Kore-KR" altLang="ko-Kore-KR" sz="800"/>
                        <a:t> 분석</a:t>
                      </a:r>
                      <a:r>
                        <a:rPr lang="en-US" altLang="ko-Kore-KR" sz="800"/>
                        <a:t>(</a:t>
                      </a:r>
                      <a:r>
                        <a:rPr lang="ko-Kore-KR" altLang="ko-Kore-KR" sz="800"/>
                        <a:t>긍정·보통·부정</a:t>
                      </a:r>
                      <a:r>
                        <a:rPr lang="en-US" altLang="ko-Kore-KR" sz="800"/>
                        <a:t>)</a:t>
                      </a:r>
                      <a:r>
                        <a:rPr lang="ko-Kore-KR" altLang="ko-Kore-KR" sz="800"/>
                        <a:t> / 단속 집중 지역 / 수요 부족 지역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레이어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분석레이어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민원다발지역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집중단속지역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수요부족지역 중 하나만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민원 다발</a:t>
                      </a:r>
                      <a:r>
                        <a:rPr lang="en-US" altLang="ko-KR" sz="800" dirty="0">
                          <a:latin typeface="+mn-ea"/>
                        </a:rPr>
                        <a:t>·</a:t>
                      </a:r>
                      <a:r>
                        <a:rPr lang="ko-KR" altLang="en-US" sz="800" dirty="0">
                          <a:latin typeface="+mn-ea"/>
                        </a:rPr>
                        <a:t>단속 집중 레이어는 </a:t>
                      </a:r>
                      <a:r>
                        <a:rPr lang="ko-KR" altLang="en-US" sz="800" dirty="0" err="1">
                          <a:latin typeface="+mn-ea"/>
                        </a:rPr>
                        <a:t>읍면동</a:t>
                      </a:r>
                      <a:r>
                        <a:rPr lang="en-US" altLang="ko-KR" sz="800" dirty="0">
                          <a:latin typeface="+mn-ea"/>
                        </a:rPr>
                        <a:t>(</a:t>
                      </a:r>
                      <a:r>
                        <a:rPr lang="ko-KR" altLang="en-US" sz="800" dirty="0" err="1">
                          <a:latin typeface="+mn-ea"/>
                        </a:rPr>
                        <a:t>폴리곤</a:t>
                      </a:r>
                      <a:r>
                        <a:rPr lang="en-US" altLang="ko-KR" sz="800" dirty="0">
                          <a:latin typeface="+mn-ea"/>
                        </a:rPr>
                        <a:t>) ↔ </a:t>
                      </a:r>
                      <a:r>
                        <a:rPr lang="ko-KR" altLang="en-US" sz="800" dirty="0" err="1">
                          <a:latin typeface="+mn-ea"/>
                        </a:rPr>
                        <a:t>히트맵</a:t>
                      </a:r>
                      <a:r>
                        <a:rPr lang="en-US" altLang="ko-KR" sz="800" dirty="0">
                          <a:latin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</a:rPr>
                        <a:t>밀도</a:t>
                      </a:r>
                      <a:r>
                        <a:rPr lang="en-US" altLang="ko-KR" sz="800" dirty="0">
                          <a:latin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</a:rPr>
                        <a:t>표현 전환 지원 </a:t>
                      </a:r>
                      <a:r>
                        <a:rPr lang="en-US" altLang="ko-KR" sz="800" dirty="0">
                          <a:latin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</a:rPr>
                        <a:t>수요 부족 지역 제외</a:t>
                      </a:r>
                      <a:r>
                        <a:rPr lang="en-US" altLang="ko-KR" sz="800" dirty="0">
                          <a:latin typeface="+mn-ea"/>
                        </a:rPr>
                        <a:t>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행정동 경계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토글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 (히트맵 선택 시 그라데이션 범례로 전환)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데이터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지역별 민원현황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기준 집계 순위 </a:t>
                      </a: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더보기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최대 15개 목록 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부정 민원 상위 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sz="800" dirty="0"/>
                        <a:t>-</a:t>
                      </a:r>
                      <a:r>
                        <a:rPr lang="ko-KR" altLang="en-US" sz="800" dirty="0"/>
                        <a:t> </a:t>
                      </a:r>
                      <a:r>
                        <a:rPr lang="ko-Kore-KR" sz="800" dirty="0"/>
                        <a:t>읍·면·동 순위</a:t>
                      </a:r>
                      <a:endParaRPr lang="en-US" sz="8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ore-KR" sz="800" dirty="0"/>
                        <a:t>긍정·보통·부정</a:t>
                      </a:r>
                      <a:r>
                        <a:rPr lang="ko-Kore-KR" altLang="en-US" sz="800" dirty="0"/>
                        <a:t> </a:t>
                      </a:r>
                      <a:r>
                        <a:rPr lang="ko-Kore-KR" sz="800" dirty="0"/>
                        <a:t>구성비 막대</a:t>
                      </a:r>
                      <a:r>
                        <a:rPr lang="ko-Kore-KR" altLang="en-US" sz="800" dirty="0"/>
                        <a:t> 차트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-</a:t>
                      </a:r>
                      <a:r>
                        <a:rPr lang="ko-KR" sz="800" b="0" i="0" u="none" strike="noStrike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더보기</a:t>
                      </a:r>
                      <a:r>
                        <a:rPr 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 클릭 하면 최대 15개 목록 노출</a:t>
                      </a:r>
                      <a:endParaRPr 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17C68831-9E68-6477-7C65-D5EF63752C28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1682C2A-5F8D-8567-B307-30A29F64EDEF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9790395-2039-6D0B-BDD7-2D667020BA49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3CBE6ED-56D6-284B-9F3D-E74C66938D40}"/>
              </a:ext>
            </a:extLst>
          </p:cNvPr>
          <p:cNvSpPr/>
          <p:nvPr/>
        </p:nvSpPr>
        <p:spPr>
          <a:xfrm>
            <a:off x="1542928" y="24010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083B92F-E32E-F83D-5062-11945236FC66}"/>
              </a:ext>
            </a:extLst>
          </p:cNvPr>
          <p:cNvSpPr/>
          <p:nvPr/>
        </p:nvSpPr>
        <p:spPr>
          <a:xfrm>
            <a:off x="4584771" y="502582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0BF6125-AA86-2CC3-A2A1-2EAD946530AD}"/>
              </a:ext>
            </a:extLst>
          </p:cNvPr>
          <p:cNvSpPr/>
          <p:nvPr/>
        </p:nvSpPr>
        <p:spPr>
          <a:xfrm>
            <a:off x="2746783" y="38826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4810ADE-A3CB-614C-B546-AF1B7B237075}"/>
              </a:ext>
            </a:extLst>
          </p:cNvPr>
          <p:cNvSpPr/>
          <p:nvPr/>
        </p:nvSpPr>
        <p:spPr>
          <a:xfrm>
            <a:off x="6263111" y="205899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A8824E0-8E11-7ED7-0FE7-2493E15009D5}"/>
              </a:ext>
            </a:extLst>
          </p:cNvPr>
          <p:cNvSpPr/>
          <p:nvPr/>
        </p:nvSpPr>
        <p:spPr>
          <a:xfrm>
            <a:off x="6261173" y="367287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80118489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0C77-DE4F-8016-396D-61F11968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D1D6ADB3-8674-1DC1-2A88-009F7CB4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9FD41BA-946A-4C0F-F397-9FAE40173BD6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537BAD2-4AB4-0A16-98ED-DCE325957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29968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26580393-BB23-AABD-B29A-C529F1810AC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979A2FD-BC5E-EEB2-8DB5-591884F0B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832438"/>
              </p:ext>
            </p:extLst>
          </p:nvPr>
        </p:nvGraphicFramePr>
        <p:xfrm>
          <a:off x="7988589" y="770244"/>
          <a:ext cx="1770266" cy="487568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 구역 자동 도출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설정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기간 선택 탭(최근1/3/6개월). 날짜 피커(시작일~종료일).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집중구역 마커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마커 클릭 시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팝업 표시.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집중구역 순위 제공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기준(민원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0%·단속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변경 가능  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순위.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민원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3132DC51-26F0-DA3D-1B7C-344E2A36895A}"/>
              </a:ext>
            </a:extLst>
          </p:cNvPr>
          <p:cNvSpPr/>
          <p:nvPr/>
        </p:nvSpPr>
        <p:spPr>
          <a:xfrm>
            <a:off x="1585332" y="12702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B28CC1D-D1DB-3A45-E2C1-BD2AECA23F2B}"/>
              </a:ext>
            </a:extLst>
          </p:cNvPr>
          <p:cNvSpPr/>
          <p:nvPr/>
        </p:nvSpPr>
        <p:spPr>
          <a:xfrm>
            <a:off x="3874878" y="231471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1CF76DE-71C5-7220-FFFF-96D48730C348}"/>
              </a:ext>
            </a:extLst>
          </p:cNvPr>
          <p:cNvSpPr/>
          <p:nvPr/>
        </p:nvSpPr>
        <p:spPr>
          <a:xfrm>
            <a:off x="6294842" y="118648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2698205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D8961-C415-9E30-C9B9-B63708DEF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086E3E3-B67D-F850-71F0-4E7F57C6C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158E52-671A-4C9C-54CF-61C92F9CFF1F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8863D05-D51E-D0F7-1EBC-4CD8F305C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8795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7BB604B6-584B-9B5A-1EC3-D0AD2D5C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0DFE0609-7897-223C-6661-3084CF834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125668"/>
              </p:ext>
            </p:extLst>
          </p:nvPr>
        </p:nvGraphicFramePr>
        <p:xfrm>
          <a:off x="7988589" y="770244"/>
          <a:ext cx="1770266" cy="4801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확충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 드롭다운,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확충 방식(공한지 조성/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복층화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/신규 조성), 주차면 증설 수, 시뮬레이션 실행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효과예측패널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전·후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추이 차트, 민원 감소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예측·혼잡도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개선 수치,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근거 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팝오버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가정값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기반 고지)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시나리오비교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유형 필터 칩(건수 표시),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민원감소/혼잡개선/비용수준/추천 배지,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 삭제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체크박스로 선택한 시나리오를 PDF/DOCX 보고서로 내보내기(시나리오별 비교 차트 포함)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3E73CFB-9EEE-53B5-154D-21DF6D755521}"/>
              </a:ext>
            </a:extLst>
          </p:cNvPr>
          <p:cNvSpPr/>
          <p:nvPr/>
        </p:nvSpPr>
        <p:spPr>
          <a:xfrm>
            <a:off x="1385942" y="119130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877A2BE-39A9-C871-DE8A-B71CF6AD73C6}"/>
              </a:ext>
            </a:extLst>
          </p:cNvPr>
          <p:cNvSpPr/>
          <p:nvPr/>
        </p:nvSpPr>
        <p:spPr>
          <a:xfrm>
            <a:off x="4061480" y="11612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0E906E-987D-9AF9-CF38-759FB4AFE4FB}"/>
              </a:ext>
            </a:extLst>
          </p:cNvPr>
          <p:cNvSpPr/>
          <p:nvPr/>
        </p:nvSpPr>
        <p:spPr>
          <a:xfrm>
            <a:off x="1386885" y="325381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8A45123-CFB3-7B69-8E61-2D7AD3D28375}"/>
              </a:ext>
            </a:extLst>
          </p:cNvPr>
          <p:cNvSpPr/>
          <p:nvPr/>
        </p:nvSpPr>
        <p:spPr>
          <a:xfrm>
            <a:off x="7156880" y="32792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54703232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75C2-280E-5BA4-FF08-887C57F19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F015910-2F26-9CB1-4BA2-8EF5DE7E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4192B1-664B-A2D6-4B57-170E6E73569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3E68B7D-0392-5D23-3FD1-89B6D9BFE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180237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UI-PAR-003-02-1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DC229A5-A007-5DF9-D9F1-794BCCFF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070574"/>
              </p:ext>
            </p:extLst>
          </p:nvPr>
        </p:nvGraphicFramePr>
        <p:xfrm>
          <a:off x="7988589" y="770244"/>
          <a:ext cx="1770266" cy="4623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정책변수설정(이면도로 정비)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정비 방식 선택(상업지역형(주차환경개선지구)/주거지역형(주민참여형)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정비 구간 연장(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입력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정책변수설정(요금제 적용)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적용 방식 선택(요금 인상/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무료→유료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전환)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적용 급지(전체/1급지(동)/2급지(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읍·면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— 제주 전체나  시 전체 선택 시에만 표시),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인상률 선택(+10/20/30%),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31E9E1DC-3509-79D6-4CF7-961B26614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445" y="1649266"/>
            <a:ext cx="3587130" cy="2857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6056832-8A7A-92BF-396B-8E16AE379E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3939" y="1612253"/>
            <a:ext cx="3396593" cy="3156127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CAB46C4-ECF2-5EDE-41E1-947C70918CB8}"/>
              </a:ext>
            </a:extLst>
          </p:cNvPr>
          <p:cNvSpPr/>
          <p:nvPr/>
        </p:nvSpPr>
        <p:spPr>
          <a:xfrm>
            <a:off x="199566" y="155919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536BA2C-EA6F-74F6-FC77-3C2A81D3E4C3}"/>
              </a:ext>
            </a:extLst>
          </p:cNvPr>
          <p:cNvSpPr/>
          <p:nvPr/>
        </p:nvSpPr>
        <p:spPr>
          <a:xfrm>
            <a:off x="4074189" y="154865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0748332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8D4E4-7F1C-2C80-98FD-6FF6F60E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7877DE7-A3EF-42CD-185D-966BC5080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A1A559D-4A33-60BF-02F8-D115B235AF25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57E69CA-02B2-8A5E-9C98-6609C05DA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90811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C4B4CFDC-4189-175B-4E36-5B9E15544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76750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BE6839C5-E017-DCF4-56E7-7D21C58A8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5860"/>
              </p:ext>
            </p:extLst>
          </p:nvPr>
        </p:nvGraphicFramePr>
        <p:xfrm>
          <a:off x="7988589" y="770244"/>
          <a:ext cx="1770266" cy="47963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격자(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Grid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기반 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민원·수급·혼잡도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공간 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생활권 분석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유형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수급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혼잡도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선택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크기 선택(1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00m).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제주 전역 격자기반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히트맵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클릭 시 상세 내용 팝업표시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분석결과요약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유형별 격자 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 순위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중심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POI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명칭으로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918D196-8F66-90BD-3968-CD9EC53EF403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7C236FE-2AAD-557E-1F56-D1F1944BBB5F}"/>
              </a:ext>
            </a:extLst>
          </p:cNvPr>
          <p:cNvSpPr/>
          <p:nvPr/>
        </p:nvSpPr>
        <p:spPr>
          <a:xfrm>
            <a:off x="3754827" y="202746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DD7A41F-181A-2221-8C4A-7914D36ABBF8}"/>
              </a:ext>
            </a:extLst>
          </p:cNvPr>
          <p:cNvSpPr/>
          <p:nvPr/>
        </p:nvSpPr>
        <p:spPr>
          <a:xfrm>
            <a:off x="1435203" y="48253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772A3F-169A-8953-9FBA-F197B23B5E03}"/>
              </a:ext>
            </a:extLst>
          </p:cNvPr>
          <p:cNvSpPr/>
          <p:nvPr/>
        </p:nvSpPr>
        <p:spPr>
          <a:xfrm>
            <a:off x="6278201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82F04F5-47D2-5BF1-4B35-4BFEFC331F14}"/>
              </a:ext>
            </a:extLst>
          </p:cNvPr>
          <p:cNvSpPr/>
          <p:nvPr/>
        </p:nvSpPr>
        <p:spPr>
          <a:xfrm>
            <a:off x="6278201" y="240033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682173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85733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52851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30816"/>
              </p:ext>
            </p:extLst>
          </p:nvPr>
        </p:nvGraphicFramePr>
        <p:xfrm>
          <a:off x="7988589" y="857334"/>
          <a:ext cx="1770266" cy="4360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증가 추세를 분석하여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요금제·공유주차제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적용 구역을 자동 추천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구역추천 설정 분석 내용(요금제 적용/공유주차제 적용), 분석 지역, 분석 기간(최근1/3/6개월·월 단위 직접 설정), 구역추천 실행 버튼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위 추천 핀 마커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 색상 표시(높음/중간/낮음)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핀 클릭 시 상세 팝업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추천구역 순위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ⓘ 산정기준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목록과 지도 연동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96540" y="13744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3754827" y="248102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6265639" y="129072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8007026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825747"/>
              </p:ext>
            </p:extLst>
          </p:nvPr>
        </p:nvGraphicFramePr>
        <p:xfrm>
          <a:off x="156173" y="485176"/>
          <a:ext cx="9600352" cy="19240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UI-PAR-003-05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spc="-20" baseline="0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782291"/>
              </p:ext>
            </p:extLst>
          </p:nvPr>
        </p:nvGraphicFramePr>
        <p:xfrm>
          <a:off x="7988589" y="857334"/>
          <a:ext cx="1770266" cy="49949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투자·보강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 자동 산정 및  지도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대상 주차장 수, 높음 우선순위 개소, 최근 3개월 사고 건수 요약 카드 표시. 아이콘 박스 + 수치(+ 설명 레이블 구성.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높음·중간·낮음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컬러별 구분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핀 클릭 시 주차장명·종합점수·4개 지표 점수 팝업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우선순위 주차장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기준(안전위험도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5%·민원빈도 25%·이용패턴 20%·단속건수 2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%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가중치 변경 가능)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순위 리스트. 주차장명, 종합점수, 단계 배지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38220" y="119596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2074477" y="24231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5824950" y="211360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9556737"/>
      </p:ext>
    </p:extLst>
  </p:cSld>
  <p:clrMapOvr>
    <a:masterClrMapping/>
  </p:clrMapOvr>
  <p:transition spd="slow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8719-14B8-BBCF-D19B-289B9CDE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D2D3235-B0A5-CDB4-FBC0-E7C47E1F6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782" y="811407"/>
            <a:ext cx="7785030" cy="5151858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253A218D-9096-337A-965D-F7C55E0A4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C5FE9F-D0AB-D8A4-8A03-594CBBD03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06385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FF1888-E95C-D038-5A18-0D030D06294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054470BD-46E2-2B27-82EE-7CB082B86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577782"/>
              </p:ext>
            </p:extLst>
          </p:nvPr>
        </p:nvGraphicFramePr>
        <p:xfrm>
          <a:off x="7988589" y="770244"/>
          <a:ext cx="1770266" cy="495359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보고서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9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관리에서 자동 생성된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배포부서에 해당되는 사용자에게만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 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주기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직접 생성 보고서 목록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및 분석 페이지에서 내보내기 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개인이 직접 내보내기 한 보고서만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 검색 및 필터링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출처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내보내기 된 페이지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분석 페이지 조회 조건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삭제버튼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6" name="타원 15">
            <a:extLst>
              <a:ext uri="{FF2B5EF4-FFF2-40B4-BE49-F238E27FC236}">
                <a16:creationId xmlns:a16="http://schemas.microsoft.com/office/drawing/2014/main" id="{76D2C481-590C-4CDA-5FD5-0E2FAE19CCA5}"/>
              </a:ext>
            </a:extLst>
          </p:cNvPr>
          <p:cNvSpPr/>
          <p:nvPr/>
        </p:nvSpPr>
        <p:spPr>
          <a:xfrm>
            <a:off x="1331099" y="113135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E9BE29D-33CE-B9B8-85C5-7DDAE6F79CB2}"/>
              </a:ext>
            </a:extLst>
          </p:cNvPr>
          <p:cNvSpPr/>
          <p:nvPr/>
        </p:nvSpPr>
        <p:spPr>
          <a:xfrm>
            <a:off x="2080534" y="112158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830569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E09E-D936-A34C-EB8F-7426DBCFF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0705C45-4D1E-62F5-0156-70C480E5D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3" y="824919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A16D193-B86C-6112-6C01-76B41FBD3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8A2E1F-5988-A773-819F-10E72E839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77799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36C211-91FE-4A9E-4D3D-36CDB577ED48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143656F-42F5-71C5-19E9-938709BFD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930036"/>
              </p:ext>
            </p:extLst>
          </p:nvPr>
        </p:nvGraphicFramePr>
        <p:xfrm>
          <a:off x="7988589" y="770244"/>
          <a:ext cx="1770266" cy="283409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자동 생성 관리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 권한만 접근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 선택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버튼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생성 설정 목록에 추가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설정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최근 생성 일시 표시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 드롭다운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저장 버튼 활성화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배포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7" name="타원 16">
            <a:extLst>
              <a:ext uri="{FF2B5EF4-FFF2-40B4-BE49-F238E27FC236}">
                <a16:creationId xmlns:a16="http://schemas.microsoft.com/office/drawing/2014/main" id="{2DDC083E-261A-8806-9985-10E04A2A8BF6}"/>
              </a:ext>
            </a:extLst>
          </p:cNvPr>
          <p:cNvSpPr/>
          <p:nvPr/>
        </p:nvSpPr>
        <p:spPr>
          <a:xfrm>
            <a:off x="1406940" y="129266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7089777-79B1-FF04-C02B-C0AE840794BE}"/>
              </a:ext>
            </a:extLst>
          </p:cNvPr>
          <p:cNvSpPr/>
          <p:nvPr/>
        </p:nvSpPr>
        <p:spPr>
          <a:xfrm>
            <a:off x="1406940" y="198003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589457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2672-8450-2C16-134C-37E04EC4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D99E2123-3E29-5C62-1801-E2B645310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4" y="791264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893EE1D7-9377-DE4C-74AF-223887BD0B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93C1D1-8220-F772-3316-EBF41E9099EE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790987D-77E9-E4B3-C159-F54A48029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12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2115F261-6809-CAEF-7721-D6A537FAF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8774"/>
              </p:ext>
            </p:extLst>
          </p:nvPr>
        </p:nvGraphicFramePr>
        <p:xfrm>
          <a:off x="7988589" y="770244"/>
          <a:ext cx="1770266" cy="3758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이력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조회 필터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단계별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지역별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기간별 알림 조회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위험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누적 민원 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이력 조회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단계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수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52E23452-3481-033B-AC56-222C282D6FC8}"/>
              </a:ext>
            </a:extLst>
          </p:cNvPr>
          <p:cNvSpPr/>
          <p:nvPr/>
        </p:nvSpPr>
        <p:spPr>
          <a:xfrm>
            <a:off x="1261548" y="116363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ECFCFF3-6ECB-A2F1-9B93-C0A22A279D7C}"/>
              </a:ext>
            </a:extLst>
          </p:cNvPr>
          <p:cNvSpPr/>
          <p:nvPr/>
        </p:nvSpPr>
        <p:spPr>
          <a:xfrm>
            <a:off x="1283070" y="14807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5E3923A-2B90-B309-ECC5-D0766BEACFC0}"/>
              </a:ext>
            </a:extLst>
          </p:cNvPr>
          <p:cNvSpPr/>
          <p:nvPr/>
        </p:nvSpPr>
        <p:spPr>
          <a:xfrm>
            <a:off x="1345296" y="210814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965863"/>
      </p:ext>
    </p:extLst>
  </p:cSld>
  <p:clrMapOvr>
    <a:masterClrMapping/>
  </p:clrMapOvr>
  <p:transition spd="slow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B371-F34F-F811-6DAE-606939C9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DB868B20-C255-AD06-5243-9A5AF32F8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3" y="810098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B4ABCE81-090D-12A7-D77F-873376ED17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721D66-2C1F-4BDE-45AC-4F54FBC2831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B8CA1E-BF8D-F477-1458-0509B5C57F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4748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D29CF18-B80D-83B7-7690-E6AD2D70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982999"/>
              </p:ext>
            </p:extLst>
          </p:nvPr>
        </p:nvGraphicFramePr>
        <p:xfrm>
          <a:off x="7988589" y="770244"/>
          <a:ext cx="1770266" cy="442493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기준 및 수신자 관리 화면(관리자 권한)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기준 카드 — 심각 30%/경고 20%/주의 10% 이상, 최소 건수 10건 표시. 설정 버튼으로 기준 변경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알림 기준 설정 팝업 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—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심각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경고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주의 증가율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(%)·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입력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기준은 서비스 공통 반영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다음날부터 적용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미만이면 알림 </a:t>
                      </a:r>
                      <a:r>
                        <a:rPr lang="ko-KR" altLang="en-US" sz="800" dirty="0" err="1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미발생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).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취소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저장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관리 목록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추가 팝업: 기본 정보 로그인 사용자 자동 입력(사용자 목록 불러오기 전환하면 서비스 사용자 불러오기), 지역 다중 추가(+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버튼·칩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알림 단계 누적 선택.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1384070" y="12011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4526280" y="324612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4AD1786-8072-6833-7A1B-6AA847A191CD}"/>
              </a:ext>
            </a:extLst>
          </p:cNvPr>
          <p:cNvSpPr/>
          <p:nvPr/>
        </p:nvSpPr>
        <p:spPr>
          <a:xfrm>
            <a:off x="1874519" y="333756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7663652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741A1-4D0C-FADD-401C-8536D575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9C45D8EE-C91A-4C5D-D9B0-1E33EBA7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81" y="768574"/>
            <a:ext cx="7788911" cy="5165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07047977-16B4-CFD3-5955-1D7235A4E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7A5151-C68A-18F7-7913-216520AD77D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3A49350-F4B3-CD98-AC3B-EDE333E5E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7604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어시스턴트(행정조례검색)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46D2E88F-E830-545F-5A32-92F3448D3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9091387"/>
              </p:ext>
            </p:extLst>
          </p:nvPr>
        </p:nvGraphicFramePr>
        <p:xfrm>
          <a:off x="7988589" y="770244"/>
          <a:ext cx="1835780" cy="413512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AI/사용자 대화형 UI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38999" marR="38999" marT="21600" marB="21600" anchor="ctr">
                    <a:lnL w="12700">
                      <a:solidFill>
                        <a:schemeClr val="tx1"/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sLLM·RAG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기반 정책문서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·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조례 검색</a:t>
                      </a:r>
                      <a:r>
                        <a:rPr 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Aptos"/>
                          <a:ea typeface="+mn-ea"/>
                          <a:cs typeface="+mn-cs"/>
                        </a:rPr>
                        <a:t>,</a:t>
                      </a:r>
                      <a:endParaRPr lang="ko-KR" altLang="en-US" dirty="0"/>
                    </a:p>
                  </a:txBody>
                  <a:tcPr marL="36000" marR="36000" marT="36000" marB="36000" anchor="ctr">
                    <a:lnL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047184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질문 입력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플레이스홀더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텍스트 + 전송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대화 목록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대화 기록으로 이동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 삭제 가능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새 대화 버튼 클릭하면 새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대화창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다운로드 받은 리포트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R" altLang="en-US" sz="800" b="0" i="0" u="none" strike="noStrike" kern="1200" spc="-80" baseline="0" noProof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92ACDF4-71B3-57D9-E993-E26B5E1B49CD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8CF1188-24F8-6469-54F7-45768BC41ED4}"/>
              </a:ext>
            </a:extLst>
          </p:cNvPr>
          <p:cNvSpPr/>
          <p:nvPr/>
        </p:nvSpPr>
        <p:spPr>
          <a:xfrm>
            <a:off x="1429044" y="54778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A71F23B-9CE3-B404-60BC-D9F808D23FF8}"/>
              </a:ext>
            </a:extLst>
          </p:cNvPr>
          <p:cNvSpPr/>
          <p:nvPr/>
        </p:nvSpPr>
        <p:spPr>
          <a:xfrm>
            <a:off x="6194453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2E0FC50-DA5B-CB92-0637-943A24D5ABD8}"/>
              </a:ext>
            </a:extLst>
          </p:cNvPr>
          <p:cNvSpPr/>
          <p:nvPr/>
        </p:nvSpPr>
        <p:spPr>
          <a:xfrm>
            <a:off x="5743101" y="40439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EEE1392-B4DF-D71D-E391-60F1F1704E01}"/>
              </a:ext>
            </a:extLst>
          </p:cNvPr>
          <p:cNvSpPr/>
          <p:nvPr/>
        </p:nvSpPr>
        <p:spPr>
          <a:xfrm>
            <a:off x="1791950" y="194443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7181905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B538-4D29-86DB-CA8C-4944D7CDF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AE92498-3774-CC1B-AF18-FEC244BBE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2" y="843674"/>
            <a:ext cx="7788911" cy="5192634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1A11454-3DE5-FCDA-F15F-E6E9F69D4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4FC28A-74C1-F7D4-7B32-237C26BA76F4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CD3EB3-0709-73DA-D832-EECEFB369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5263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대량 민원 내용 보고용 자동 요약</a:t>
                      </a:r>
                      <a:r>
                        <a:rPr lang="en-US" altLang="ko-KR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+mn-cs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722552A9-5F26-A58B-C806-B4398B8CE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33224"/>
              </p:ext>
            </p:extLst>
          </p:nvPr>
        </p:nvGraphicFramePr>
        <p:xfrm>
          <a:off x="7988589" y="770244"/>
          <a:ext cx="1770266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AI 응답 시 대량 민원 내용 요약 (리포트 생성 버튼 제공)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4FB7B383-1775-315E-B75B-5B35D5F5FA91}"/>
              </a:ext>
            </a:extLst>
          </p:cNvPr>
          <p:cNvSpPr/>
          <p:nvPr/>
        </p:nvSpPr>
        <p:spPr>
          <a:xfrm>
            <a:off x="1822293" y="194484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49667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8B7DC-9965-33F8-90C7-6A64404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ADB918B-81A1-DB2F-7BD1-344523B45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43C4842B-5578-489D-F17B-120816AFE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EB9E64-E383-4E9A-5617-11C6B54CBC00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9DC9A82-F085-9532-C04A-5E99099B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68200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어시스턴트(보고서 미리보기, 다운로드)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B3FCE4C-0172-C1E3-B6A9-BDF47AF05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02056"/>
              </p:ext>
            </p:extLst>
          </p:nvPr>
        </p:nvGraphicFramePr>
        <p:xfrm>
          <a:off x="7988589" y="770244"/>
          <a:ext cx="1770265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 보고서 미리보기, 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민원요약 보고서 미리보기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다운로드 (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지원 형식: PDF, DOCX,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15D5F00-A3FF-D028-0405-864A87A247E9}"/>
              </a:ext>
            </a:extLst>
          </p:cNvPr>
          <p:cNvSpPr/>
          <p:nvPr/>
        </p:nvSpPr>
        <p:spPr>
          <a:xfrm>
            <a:off x="1849763" y="10491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5EA2C19-6568-F8CB-9480-37B9F3A8766A}"/>
              </a:ext>
            </a:extLst>
          </p:cNvPr>
          <p:cNvSpPr/>
          <p:nvPr/>
        </p:nvSpPr>
        <p:spPr>
          <a:xfrm>
            <a:off x="4577208" y="515362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2591620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D5D3-B4CE-5DE7-F765-F584B20E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16A7911-BE1F-1E9F-F183-1B10DF78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5464069-598A-CDAD-C83E-0175DCAE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DB6F76-F83B-1531-D368-04C762104FCB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9CE868A-67A9-10FF-C98F-2228915FD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9807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UI-PAR-005-04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어시스턴트(통합분석)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C115E53-6B4C-D560-BEEC-86CA70EC1D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42763"/>
              </p:ext>
            </p:extLst>
          </p:nvPr>
        </p:nvGraphicFramePr>
        <p:xfrm>
          <a:off x="7988589" y="770244"/>
          <a:ext cx="1770265" cy="406623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민원 데이터와 감시(화재·안전) 데이터를 결합한 통합 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채팅 영역</a:t>
                      </a:r>
                      <a:endParaRPr lang="en-US" altLang="ko-KR" sz="800" b="0" i="0" u="none" strike="noStrike" kern="1200" spc="-80" baseline="0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  <a:p>
                      <a:pPr marL="171450" marR="0" lvl="0" indent="-17145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데이터를 결합해야 답이 나오는 질문에 대해 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AI 응답 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에이전트를 호출해 융합 데이터에서 종합 인사이트를 도출하고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그 결과를 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어시스턴트에 답변으로 표시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(리포트 생성 버튼 제공)</a:t>
                      </a:r>
                      <a:endParaRPr lang="ko-KR"/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en-US" altLang="ko-KR" sz="800" b="0" i="0" u="none" strike="noStrike" kern="1200" spc="-80" baseline="0" noProof="0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2EE36E5C-199B-D204-9B34-6A982BA88D2E}"/>
              </a:ext>
            </a:extLst>
          </p:cNvPr>
          <p:cNvSpPr/>
          <p:nvPr/>
        </p:nvSpPr>
        <p:spPr>
          <a:xfrm>
            <a:off x="1816798" y="196132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11393963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8EA4-1C00-7007-2835-FD5636EE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A3DED73-F00A-E98F-5466-34730245BD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51" y="783225"/>
            <a:ext cx="7705481" cy="5099216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9176921-6EFD-F0B4-3A26-325B4E947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D3336AB-11EF-18FA-D406-5677D2EF16DC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577D28B-51B5-B006-F362-86AAB26E9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28312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UI-PAR-006-01</a:t>
                      </a: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메뉴권한관리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dirty="0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dirty="0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3D3A858-4EF5-7BF4-8F05-DCE29FF19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834787"/>
              </p:ext>
            </p:extLst>
          </p:nvPr>
        </p:nvGraphicFramePr>
        <p:xfrm>
          <a:off x="7988589" y="770244"/>
          <a:ext cx="1770265" cy="37777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권한 그룹별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메뉴 접근 권한을 관리하는 화면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메뉴권한관리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메뉴별로 사용 가능한 권한 그룹을 지정하는 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탭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메뉴를 클릭하여 오른쪽에서</a:t>
                      </a:r>
                      <a:r>
                        <a:rPr 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해당 메뉴의 사용 권한 그룹을 지정</a:t>
                      </a:r>
                      <a:endParaRPr lang="en-US" altLang="ko-KR" sz="800" b="0" i="0" u="none" strike="noStrike" kern="1200" spc="-80" baseline="0" noProof="0" err="1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시스템 관리자는 항상 허용(해제 불가), 서비스 관리자는 조정 가능(해제 시 일반 사용자 동시 해제), 일반 사용자는 관리 메뉴 부여 불가. 메뉴별 권한 저장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9FA0F83C-9C2D-6F84-7708-0F5732056F8B}"/>
              </a:ext>
            </a:extLst>
          </p:cNvPr>
          <p:cNvSpPr/>
          <p:nvPr/>
        </p:nvSpPr>
        <p:spPr>
          <a:xfrm>
            <a:off x="1382420" y="10195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3A9FEA3-16F7-0F69-F071-C7D2819EE7F7}"/>
              </a:ext>
            </a:extLst>
          </p:cNvPr>
          <p:cNvSpPr/>
          <p:nvPr/>
        </p:nvSpPr>
        <p:spPr>
          <a:xfrm>
            <a:off x="1549916" y="21257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B38795-6C85-F5C4-B323-489F2554B05D}"/>
              </a:ext>
            </a:extLst>
          </p:cNvPr>
          <p:cNvSpPr/>
          <p:nvPr/>
        </p:nvSpPr>
        <p:spPr>
          <a:xfrm>
            <a:off x="5170890" y="223018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5182842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7E2F768B8BEA1B4BA96AF827BBE86B77" ma:contentTypeVersion="19" ma:contentTypeDescription="새 문서를 만듭니다." ma:contentTypeScope="" ma:versionID="762a31905db5335e337fa841c52c2147">
  <xsd:schema xmlns:xsd="http://www.w3.org/2001/XMLSchema" xmlns:xs="http://www.w3.org/2001/XMLSchema" xmlns:p="http://schemas.microsoft.com/office/2006/metadata/properties" xmlns:ns2="a9a47f6a-5fbc-44ef-b6bc-6bfe89c88dc9" xmlns:ns3="75c68a21-51b2-4bb1-a99a-dc4f15a04410" targetNamespace="http://schemas.microsoft.com/office/2006/metadata/properties" ma:root="true" ma:fieldsID="da020f0329c407106c7e6bd138d91b2b" ns2:_="" ns3:_="">
    <xsd:import namespace="a9a47f6a-5fbc-44ef-b6bc-6bfe89c88dc9"/>
    <xsd:import namespace="75c68a21-51b2-4bb1-a99a-dc4f15a044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47f6a-5fbc-44ef-b6bc-6bfe89c88d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이미지 태그" ma:readOnly="false" ma:fieldId="{5cf76f15-5ced-4ddc-b409-7134ff3c332f}" ma:taxonomyMulti="true" ma:sspId="9671d70d-ba4a-49a0-aa10-aba82bd72e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c68a21-51b2-4bb1-a99a-dc4f15a0441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23d12d0-b1b2-4ddd-9e97-0337b86f5c5d}" ma:internalName="TaxCatchAll" ma:showField="CatchAllData" ma:web="75c68a21-51b2-4bb1-a99a-dc4f15a044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c68a21-51b2-4bb1-a99a-dc4f15a04410" xsi:nil="true"/>
    <lcf76f155ced4ddcb4097134ff3c332f xmlns="a9a47f6a-5fbc-44ef-b6bc-6bfe89c88dc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08B6CF9-5475-41EE-B89D-9C4ACB58DEB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2029E8E-4298-458E-B529-7BFA9D4BB58F}">
  <ds:schemaRefs>
    <ds:schemaRef ds:uri="75c68a21-51b2-4bb1-a99a-dc4f15a04410"/>
    <ds:schemaRef ds:uri="a9a47f6a-5fbc-44ef-b6bc-6bfe89c88dc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CAF0E72-3270-40FD-B848-E33524A55102}">
  <ds:schemaRefs>
    <ds:schemaRef ds:uri="http://purl.org/dc/terms/"/>
    <ds:schemaRef ds:uri="http://www.w3.org/XML/1998/namespace"/>
    <ds:schemaRef ds:uri="75c68a21-51b2-4bb1-a99a-dc4f15a04410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a9a47f6a-5fbc-44ef-b6bc-6bfe89c88dc9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420</TotalTime>
  <Words>2200</Words>
  <Application>Microsoft Macintosh PowerPoint</Application>
  <PresentationFormat>A4 용지(210x297mm)</PresentationFormat>
  <Paragraphs>600</Paragraphs>
  <Slides>22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2" baseType="lpstr">
      <vt:lpstr>함초롬바탕</vt:lpstr>
      <vt:lpstr>HCR Batang</vt:lpstr>
      <vt:lpstr>KoPubWorld돋움체 Medium</vt:lpstr>
      <vt:lpstr>KoPubWorld바탕체 Bold</vt:lpstr>
      <vt:lpstr>Malgun Gothic</vt:lpstr>
      <vt:lpstr>Malgun Gothic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반 도현</dc:creator>
  <cp:lastModifiedBy>박 규영</cp:lastModifiedBy>
  <cp:revision>39</cp:revision>
  <dcterms:created xsi:type="dcterms:W3CDTF">2024-05-09T01:00:47Z</dcterms:created>
  <dcterms:modified xsi:type="dcterms:W3CDTF">2026-10-28T12:39:41Z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0x0101007E2F768B8BEA1B4BA96AF827BBE86B77</vt:lpwstr>
  </property>
  <property fmtid="{D5CDD505-2E9C-101B-9397-08002B2CF9AE}" pid="3" name="MediaServiceImageTags">
    <vt:lpwstr/>
  </property>
</Properties>
</file>